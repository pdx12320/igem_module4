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20320000" cy="1270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 snapToGrid="0">
      <p:cViewPr varScale="1">
        <p:scale>
          <a:sx n="63" d="100"/>
          <a:sy n="63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 adapts LAMAR to human transcripts through continued masked-language pretraining and supervised fine-tuning. Stage I classifies 1,024-nt regions. Stage II scores 101-nt cytidine-centered contexts with a scalar ranking head. The lower row shows the proposed screening application: prioritize regions, rank cytidines, and nominate candidates for experimental validation. Stage II evaluation includes positive regions only. Sequence overlap between partitions limits independence. The complete Stage I-to-Stage II screening pipeline has not yet been evaluated.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40000" y="2078450"/>
            <a:ext cx="15240000" cy="442148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40000" y="6670441"/>
            <a:ext cx="15240000" cy="30662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6417" y="3166183"/>
            <a:ext cx="17526000" cy="5282846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86417" y="8499008"/>
            <a:ext cx="17526000" cy="27781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7000" y="3380787"/>
            <a:ext cx="8636000" cy="805803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0287000" y="3380787"/>
            <a:ext cx="8636000" cy="805803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9647" y="676160"/>
            <a:ext cx="17526000" cy="2454746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99647" y="3113265"/>
            <a:ext cx="8596312" cy="1525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399647" y="4639028"/>
            <a:ext cx="8596312" cy="682331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10287001" y="3113265"/>
            <a:ext cx="8638647" cy="1525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10287001" y="4639028"/>
            <a:ext cx="8638647" cy="682331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9648" y="846667"/>
            <a:ext cx="6553728" cy="2963333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38647" y="1828568"/>
            <a:ext cx="10287000" cy="902523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1399648" y="3810000"/>
            <a:ext cx="6553728" cy="7058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9648" y="846667"/>
            <a:ext cx="6553728" cy="2963333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638647" y="1828568"/>
            <a:ext cx="10287000" cy="90252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1399648" y="3810000"/>
            <a:ext cx="6553728" cy="7058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14541500" y="676157"/>
            <a:ext cx="4381500" cy="10762663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1397000" y="676157"/>
            <a:ext cx="12890500" cy="10762663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97000" y="676160"/>
            <a:ext cx="17526000" cy="245474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97000" y="3380787"/>
            <a:ext cx="17526000" cy="805803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1397000" y="11771022"/>
            <a:ext cx="4572000" cy="67615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40BB6-B387-694D-BACD-064F73CB9DC0}" type="datetimeFigureOut">
              <a:rPr lang="zh-CN" altLang="en-US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6731000" y="11771022"/>
            <a:ext cx="6858000" cy="67615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14351000" y="11771022"/>
            <a:ext cx="4572000" cy="67615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E8A54-1057-0A47-BB17-964A1CF37F3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ditable_text_2"/>
          <p:cNvSpPr>
            <a:spLocks noGrp="1"/>
          </p:cNvSpPr>
          <p:nvPr/>
        </p:nvSpPr>
        <p:spPr>
          <a:xfrm>
            <a:off x="812800" y="508000"/>
            <a:ext cx="18694400" cy="889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53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>
                <a:solidFill>
                  <a:srgbClr val="34256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Module 4 · LAMAR-based Off-target Prioritization</a:t>
            </a:r>
            <a:endParaRPr sz="4600"/>
          </a:p>
        </p:txBody>
      </p:sp>
      <p:sp>
        <p:nvSpPr>
          <p:cNvPr id="5" name="Editable_text_4"/>
          <p:cNvSpPr>
            <a:spLocks noGrp="1"/>
          </p:cNvSpPr>
          <p:nvPr/>
        </p:nvSpPr>
        <p:spPr>
          <a:xfrm>
            <a:off x="812800" y="2641600"/>
            <a:ext cx="18542000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BA8658"/>
                </a:solidFill>
                <a:latin typeface="Futura" panose="020B0602020204020303"/>
                <a:ea typeface="Futura" panose="020B0602020204020303"/>
                <a:cs typeface="Futura" panose="020B0602020204020303"/>
              </a:defRPr>
            </a:pPr>
            <a:r>
              <a:rPr sz="2800" b="1">
                <a:solidFill>
                  <a:srgbClr val="BA865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Training &amp; evaluation</a:t>
            </a:r>
            <a:endParaRPr sz="2800"/>
          </a:p>
        </p:txBody>
      </p:sp>
      <p:sp>
        <p:nvSpPr>
          <p:cNvPr id="6" name="Editable_round_5"/>
          <p:cNvSpPr>
            <a:spLocks noGrp="1"/>
          </p:cNvSpPr>
          <p:nvPr/>
        </p:nvSpPr>
        <p:spPr>
          <a:xfrm>
            <a:off x="812800" y="3454400"/>
            <a:ext cx="4330700" cy="12192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Editable_text_6"/>
          <p:cNvSpPr>
            <a:spLocks noGrp="1"/>
          </p:cNvSpPr>
          <p:nvPr/>
        </p:nvSpPr>
        <p:spPr>
          <a:xfrm>
            <a:off x="990600" y="3556000"/>
            <a:ext cx="397510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0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Human</a:t>
            </a:r>
            <a:r>
              <a:rPr lang="zh-CN" alt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 </a:t>
            </a:r>
            <a:r>
              <a:rPr lang="en-US" altLang="zh-CN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transcript</a:t>
            </a:r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00" dirty="0">
                <a:solidFill>
                  <a:srgbClr val="292638"/>
                </a:solidFill>
                <a:latin typeface="Futura" panose="020B0602020204020303"/>
                <a:cs typeface="Futura" panose="020B0602020204020303"/>
              </a:rPr>
              <a:t>sequences</a:t>
            </a:r>
            <a:endParaRPr sz="2900" dirty="0"/>
          </a:p>
        </p:txBody>
      </p:sp>
      <p:sp>
        <p:nvSpPr>
          <p:cNvPr id="8" name="Editable_round_7"/>
          <p:cNvSpPr>
            <a:spLocks noGrp="1"/>
          </p:cNvSpPr>
          <p:nvPr/>
        </p:nvSpPr>
        <p:spPr>
          <a:xfrm>
            <a:off x="5600700" y="3454400"/>
            <a:ext cx="4330700" cy="12192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Editable_text_8"/>
          <p:cNvSpPr>
            <a:spLocks noGrp="1"/>
          </p:cNvSpPr>
          <p:nvPr/>
        </p:nvSpPr>
        <p:spPr>
          <a:xfrm>
            <a:off x="5778500" y="3556000"/>
            <a:ext cx="397510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Continued</a:t>
            </a:r>
            <a:endParaRPr sz="2900"/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pretraining</a:t>
            </a:r>
            <a:endParaRPr sz="2900"/>
          </a:p>
        </p:txBody>
      </p:sp>
      <p:cxnSp>
        <p:nvCxnSpPr>
          <p:cNvPr id="51" name="Editable_line_9"/>
          <p:cNvCxnSpPr/>
          <p:nvPr/>
        </p:nvCxnSpPr>
        <p:spPr>
          <a:xfrm>
            <a:off x="5232400" y="40640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itable_round_10"/>
          <p:cNvSpPr>
            <a:spLocks noGrp="1"/>
          </p:cNvSpPr>
          <p:nvPr/>
        </p:nvSpPr>
        <p:spPr>
          <a:xfrm>
            <a:off x="10388600" y="3454400"/>
            <a:ext cx="4330700" cy="12192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Editable_text_11"/>
          <p:cNvSpPr>
            <a:spLocks noGrp="1"/>
          </p:cNvSpPr>
          <p:nvPr/>
        </p:nvSpPr>
        <p:spPr>
          <a:xfrm>
            <a:off x="10566400" y="3556000"/>
            <a:ext cx="397510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Fine-tuning with</a:t>
            </a:r>
            <a:endParaRPr sz="2900"/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RNA-seq labels</a:t>
            </a:r>
            <a:endParaRPr sz="2900"/>
          </a:p>
        </p:txBody>
      </p:sp>
      <p:cxnSp>
        <p:nvCxnSpPr>
          <p:cNvPr id="54" name="Editable_line_12"/>
          <p:cNvCxnSpPr/>
          <p:nvPr/>
        </p:nvCxnSpPr>
        <p:spPr>
          <a:xfrm>
            <a:off x="10020300" y="40640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_round_13"/>
          <p:cNvSpPr>
            <a:spLocks noGrp="1"/>
          </p:cNvSpPr>
          <p:nvPr/>
        </p:nvSpPr>
        <p:spPr>
          <a:xfrm>
            <a:off x="15176500" y="3454400"/>
            <a:ext cx="4330700" cy="12192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Editable_text_14"/>
          <p:cNvSpPr>
            <a:spLocks noGrp="1"/>
          </p:cNvSpPr>
          <p:nvPr/>
        </p:nvSpPr>
        <p:spPr>
          <a:xfrm>
            <a:off x="15354300" y="3556000"/>
            <a:ext cx="397510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Stage-specific</a:t>
            </a:r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evaluation</a:t>
            </a:r>
            <a:endParaRPr sz="2900" dirty="0"/>
          </a:p>
        </p:txBody>
      </p:sp>
      <p:cxnSp>
        <p:nvCxnSpPr>
          <p:cNvPr id="57" name="Editable_line_15"/>
          <p:cNvCxnSpPr/>
          <p:nvPr/>
        </p:nvCxnSpPr>
        <p:spPr>
          <a:xfrm>
            <a:off x="14808200" y="40640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itable_round_17"/>
          <p:cNvSpPr>
            <a:spLocks noGrp="1"/>
          </p:cNvSpPr>
          <p:nvPr/>
        </p:nvSpPr>
        <p:spPr>
          <a:xfrm>
            <a:off x="15087600" y="5232400"/>
            <a:ext cx="4419600" cy="74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Editable_text_18"/>
          <p:cNvSpPr>
            <a:spLocks noGrp="1"/>
          </p:cNvSpPr>
          <p:nvPr/>
        </p:nvSpPr>
        <p:spPr>
          <a:xfrm>
            <a:off x="15265400" y="5334000"/>
            <a:ext cx="4064000" cy="5461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Validation and test data</a:t>
            </a:r>
            <a:endParaRPr sz="2600" dirty="0"/>
          </a:p>
        </p:txBody>
      </p:sp>
      <p:cxnSp>
        <p:nvCxnSpPr>
          <p:cNvPr id="61" name="Editable_line_19"/>
          <p:cNvCxnSpPr/>
          <p:nvPr/>
        </p:nvCxnSpPr>
        <p:spPr>
          <a:xfrm flipV="1">
            <a:off x="17297400" y="4673600"/>
            <a:ext cx="0" cy="558800"/>
          </a:xfrm>
          <a:prstGeom prst="straightConnector1">
            <a:avLst/>
          </a:prstGeom>
          <a:ln w="33020">
            <a:solidFill>
              <a:srgbClr val="BA86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_text_21"/>
          <p:cNvSpPr>
            <a:spLocks noGrp="1"/>
          </p:cNvSpPr>
          <p:nvPr/>
        </p:nvSpPr>
        <p:spPr>
          <a:xfrm>
            <a:off x="812800" y="6756400"/>
            <a:ext cx="18542000" cy="558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3250"/>
              </a:lnSpc>
            </a:pPr>
            <a:r>
              <a:rPr lang="en-US" sz="2800" b="1" dirty="0">
                <a:solidFill>
                  <a:srgbClr val="BA865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Proposed transcriptome screening</a:t>
            </a:r>
            <a:endParaRPr sz="2800" dirty="0"/>
          </a:p>
        </p:txBody>
      </p:sp>
      <p:sp>
        <p:nvSpPr>
          <p:cNvPr id="23" name="Editable_round_22"/>
          <p:cNvSpPr>
            <a:spLocks noGrp="1"/>
          </p:cNvSpPr>
          <p:nvPr/>
        </p:nvSpPr>
        <p:spPr>
          <a:xfrm>
            <a:off x="812800" y="7518400"/>
            <a:ext cx="4330700" cy="12446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Editable_text_23"/>
          <p:cNvSpPr>
            <a:spLocks noGrp="1"/>
          </p:cNvSpPr>
          <p:nvPr/>
        </p:nvSpPr>
        <p:spPr>
          <a:xfrm>
            <a:off x="990600" y="7620000"/>
            <a:ext cx="3975100" cy="1041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Reference or user-</a:t>
            </a:r>
            <a:endParaRPr sz="2900"/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supplied transcriptome</a:t>
            </a:r>
            <a:endParaRPr sz="2900"/>
          </a:p>
        </p:txBody>
      </p:sp>
      <p:sp>
        <p:nvSpPr>
          <p:cNvPr id="25" name="Editable_round_24"/>
          <p:cNvSpPr>
            <a:spLocks noGrp="1"/>
          </p:cNvSpPr>
          <p:nvPr/>
        </p:nvSpPr>
        <p:spPr>
          <a:xfrm>
            <a:off x="5600700" y="7518400"/>
            <a:ext cx="4330700" cy="12446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Editable_text_25"/>
          <p:cNvSpPr>
            <a:spLocks noGrp="1"/>
          </p:cNvSpPr>
          <p:nvPr/>
        </p:nvSpPr>
        <p:spPr>
          <a:xfrm>
            <a:off x="5778500" y="7620000"/>
            <a:ext cx="3975100" cy="1041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Stage I</a:t>
            </a:r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Region classification</a:t>
            </a:r>
            <a:endParaRPr lang="en-US" sz="2900" b="0" dirty="0">
              <a:solidFill>
                <a:srgbClr val="292638"/>
              </a:solidFill>
              <a:latin typeface="Futura" panose="020B0602020204020303"/>
              <a:ea typeface="Futura" panose="020B0602020204020303"/>
              <a:cs typeface="Futura" panose="020B0602020204020303"/>
            </a:endParaRPr>
          </a:p>
        </p:txBody>
      </p:sp>
      <p:cxnSp>
        <p:nvCxnSpPr>
          <p:cNvPr id="67" name="Editable_line_26"/>
          <p:cNvCxnSpPr/>
          <p:nvPr/>
        </p:nvCxnSpPr>
        <p:spPr>
          <a:xfrm>
            <a:off x="5232400" y="81407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_round_27"/>
          <p:cNvSpPr>
            <a:spLocks noGrp="1"/>
          </p:cNvSpPr>
          <p:nvPr/>
        </p:nvSpPr>
        <p:spPr>
          <a:xfrm>
            <a:off x="10388600" y="7518400"/>
            <a:ext cx="4330700" cy="12446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Editable_text_28"/>
          <p:cNvSpPr>
            <a:spLocks noGrp="1"/>
          </p:cNvSpPr>
          <p:nvPr/>
        </p:nvSpPr>
        <p:spPr>
          <a:xfrm>
            <a:off x="10566400" y="7620000"/>
            <a:ext cx="3975100" cy="1041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Stage II</a:t>
            </a:r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Cytidine ranking</a:t>
            </a:r>
            <a:endParaRPr lang="en-US" sz="2900" b="0" dirty="0">
              <a:solidFill>
                <a:srgbClr val="292638"/>
              </a:solidFill>
              <a:latin typeface="Futura" panose="020B0602020204020303"/>
              <a:ea typeface="Futura" panose="020B0602020204020303"/>
              <a:cs typeface="Futura" panose="020B0602020204020303"/>
            </a:endParaRPr>
          </a:p>
        </p:txBody>
      </p:sp>
      <p:cxnSp>
        <p:nvCxnSpPr>
          <p:cNvPr id="70" name="Editable_line_29"/>
          <p:cNvCxnSpPr/>
          <p:nvPr/>
        </p:nvCxnSpPr>
        <p:spPr>
          <a:xfrm>
            <a:off x="10020300" y="81407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itable_round_30"/>
          <p:cNvSpPr>
            <a:spLocks noGrp="1"/>
          </p:cNvSpPr>
          <p:nvPr/>
        </p:nvSpPr>
        <p:spPr>
          <a:xfrm>
            <a:off x="15176500" y="7518400"/>
            <a:ext cx="4330700" cy="12446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BA86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Editable_text_31"/>
          <p:cNvSpPr>
            <a:spLocks noGrp="1"/>
          </p:cNvSpPr>
          <p:nvPr/>
        </p:nvSpPr>
        <p:spPr>
          <a:xfrm>
            <a:off x="15354300" y="7620000"/>
            <a:ext cx="3975100" cy="1041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Ranked</a:t>
            </a:r>
            <a:endParaRPr sz="2900"/>
          </a:p>
          <a:p>
            <a:pPr algn="ctr">
              <a:lnSpc>
                <a:spcPts val="3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candidate sites</a:t>
            </a:r>
            <a:endParaRPr sz="2900"/>
          </a:p>
        </p:txBody>
      </p:sp>
      <p:cxnSp>
        <p:nvCxnSpPr>
          <p:cNvPr id="73" name="Editable_line_32"/>
          <p:cNvCxnSpPr/>
          <p:nvPr/>
        </p:nvCxnSpPr>
        <p:spPr>
          <a:xfrm>
            <a:off x="14808200" y="8140700"/>
            <a:ext cx="279400" cy="0"/>
          </a:xfrm>
          <a:prstGeom prst="straightConnector1">
            <a:avLst/>
          </a:prstGeom>
          <a:ln w="33020">
            <a:solidFill>
              <a:srgbClr val="3425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ditable_line_33"/>
          <p:cNvCxnSpPr/>
          <p:nvPr/>
        </p:nvCxnSpPr>
        <p:spPr>
          <a:xfrm>
            <a:off x="12661900" y="4673600"/>
            <a:ext cx="0" cy="660400"/>
          </a:xfrm>
          <a:prstGeom prst="straightConnector1">
            <a:avLst/>
          </a:prstGeom>
          <a:ln w="33020">
            <a:solidFill>
              <a:srgbClr val="BA8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ditable_line_35"/>
          <p:cNvCxnSpPr/>
          <p:nvPr/>
        </p:nvCxnSpPr>
        <p:spPr>
          <a:xfrm>
            <a:off x="12661900" y="5307965"/>
            <a:ext cx="0" cy="1826895"/>
          </a:xfrm>
          <a:prstGeom prst="straightConnector1">
            <a:avLst/>
          </a:prstGeom>
          <a:ln w="33020">
            <a:solidFill>
              <a:srgbClr val="BA8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ditable_line_37"/>
          <p:cNvCxnSpPr/>
          <p:nvPr/>
        </p:nvCxnSpPr>
        <p:spPr>
          <a:xfrm>
            <a:off x="12661900" y="7099300"/>
            <a:ext cx="0" cy="419100"/>
          </a:xfrm>
          <a:prstGeom prst="straightConnector1">
            <a:avLst/>
          </a:prstGeom>
          <a:ln w="33020">
            <a:solidFill>
              <a:srgbClr val="BA86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ditable_text_38"/>
          <p:cNvSpPr>
            <a:spLocks noGrp="1"/>
          </p:cNvSpPr>
          <p:nvPr/>
        </p:nvSpPr>
        <p:spPr>
          <a:xfrm>
            <a:off x="10299700" y="6166485"/>
            <a:ext cx="4000500" cy="4191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2785"/>
              </a:lnSpc>
            </a:pPr>
            <a:r>
              <a:rPr lang="en-US" sz="2400">
                <a:solidFill>
                  <a:srgbClr val="BA865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Trained models</a:t>
            </a:r>
            <a:endParaRPr sz="2400"/>
          </a:p>
        </p:txBody>
      </p:sp>
      <p:sp>
        <p:nvSpPr>
          <p:cNvPr id="41" name="Editable_round_40"/>
          <p:cNvSpPr>
            <a:spLocks noGrp="1"/>
          </p:cNvSpPr>
          <p:nvPr/>
        </p:nvSpPr>
        <p:spPr>
          <a:xfrm>
            <a:off x="812800" y="9664700"/>
            <a:ext cx="18694400" cy="1346200"/>
          </a:xfrm>
          <a:prstGeom prst="roundRect">
            <a:avLst>
              <a:gd name="adj" fmla="val 8000"/>
            </a:avLst>
          </a:prstGeom>
          <a:solidFill>
            <a:srgbClr val="FCEDDE"/>
          </a:solidFill>
          <a:ln w="19050">
            <a:solidFill>
              <a:srgbClr val="DCD8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Editable_text_41"/>
          <p:cNvSpPr>
            <a:spLocks noGrp="1"/>
          </p:cNvSpPr>
          <p:nvPr/>
        </p:nvSpPr>
        <p:spPr>
          <a:xfrm>
            <a:off x="1117600" y="9880600"/>
            <a:ext cx="3302000" cy="965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34256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Outputs</a:t>
            </a:r>
            <a:endParaRPr sz="2800"/>
          </a:p>
        </p:txBody>
      </p:sp>
      <p:sp>
        <p:nvSpPr>
          <p:cNvPr id="43" name="Editable_text_42"/>
          <p:cNvSpPr>
            <a:spLocks noGrp="1"/>
          </p:cNvSpPr>
          <p:nvPr/>
        </p:nvSpPr>
        <p:spPr>
          <a:xfrm>
            <a:off x="2903220" y="10174605"/>
            <a:ext cx="12451080" cy="713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>
              <a:lnSpc>
                <a:spcPts val="3130"/>
              </a:lnSpc>
            </a:pPr>
            <a:r>
              <a:rPr lang="en-US" sz="2700">
                <a:solidFill>
                  <a:srgbClr val="292638"/>
                </a:solidFill>
                <a:latin typeface="Futura" panose="020B0602020204020303"/>
                <a:ea typeface="Futura" panose="020B0602020204020303"/>
                <a:cs typeface="Futura" panose="020B0602020204020303"/>
              </a:rPr>
              <a:t>Ranked candidate RNA sites for experimental validation</a:t>
            </a:r>
            <a:endParaRPr sz="2700"/>
          </a:p>
        </p:txBody>
      </p:sp>
      <p:cxnSp>
        <p:nvCxnSpPr>
          <p:cNvPr id="10" name="Editable_line_37"/>
          <p:cNvCxnSpPr>
            <a:endCxn id="25" idx="0"/>
          </p:cNvCxnSpPr>
          <p:nvPr/>
        </p:nvCxnSpPr>
        <p:spPr>
          <a:xfrm flipH="1">
            <a:off x="7766050" y="4688205"/>
            <a:ext cx="4878705" cy="2830195"/>
          </a:xfrm>
          <a:prstGeom prst="straightConnector1">
            <a:avLst/>
          </a:prstGeom>
          <a:ln w="33020">
            <a:solidFill>
              <a:srgbClr val="BA86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5E6E7DE-0907-4B60-7DF3-E42CCA9865EB}"/>
              </a:ext>
            </a:extLst>
          </p:cNvPr>
          <p:cNvSpPr txBox="1"/>
          <p:nvPr/>
        </p:nvSpPr>
        <p:spPr>
          <a:xfrm>
            <a:off x="812800" y="11480800"/>
            <a:ext cx="1869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Stage II evaluation uses positive regions only. Split overlap limits independence.</a:t>
            </a:r>
          </a:p>
          <a:p>
            <a:r>
              <a:rPr kumimoji="1" lang="en-US" altLang="zh-CN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The complete transcriptome-screening pipeline has not yet been evaluated.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</Words>
  <Application>Microsoft Macintosh PowerPoint</Application>
  <PresentationFormat>自定义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Futura</vt:lpstr>
      <vt:lpstr>FUTURA MEDIUM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ns0:revision>12</ns0:revision>
  <ns2:created xsi:type="dcterms:W3CDTF">2026-09-24T13:14:41Z</ns2:created>
  <ns2:modified xsi:type="dcterms:W3CDTF">2026-10-11T07:56:47Z</ns2:modified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B9CCBA1EEAB52F1F4122B56A4C755AAC_43</vt:lpwstr>
  </property>
</Properties>
</file>